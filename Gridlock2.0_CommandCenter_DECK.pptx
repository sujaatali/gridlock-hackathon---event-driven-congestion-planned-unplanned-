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6" r:id="rId3"/>
    <p:sldId id="265" r:id="rId4"/>
    <p:sldId id="258" r:id="rId5"/>
    <p:sldId id="259" r:id="rId6"/>
    <p:sldId id="260" r:id="rId7"/>
    <p:sldId id="267" r:id="rId1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635"/>
  </p:normalViewPr>
  <p:slideViewPr>
    <p:cSldViewPr snapToGrid="0" snapToObjects="1">
      <p:cViewPr>
        <p:scale>
          <a:sx n="114" d="100"/>
          <a:sy n="114" d="100"/>
        </p:scale>
        <p:origin x="1528" y="9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3254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Bengaluru loses enormous time to traffic events — breakdowns, tree falls, construction, rallies. The police need to know WHICH events will shut a road and WHERE to put their people. We built a command center on the REAL provided dataset — 8,173 events — not simulated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8799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didn't pick a model and hope. Three industry-standard gradient-boosted models, identical conditions. XGBoost won on PR-AUC — the metric that matters when the thing you're predicting is rare. So that's our closure-risk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Because closures are rare, accuracy is a trap — 92% is the do-nothing baseline. We report PR-AUC and recall instead: ~5x better than chance, catches 57% of closures, and history shows flagged events closed 4.3x more often. Honest, tested, on unseen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models working together. Model 1 scores an incoming event's closure risk. Model 2 tells us where and when events cluster, by real neighborhood. Model 3 turns risk into action: how many officers, barricade or not, and where to pre-position. All explainable — no black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LIVE DEMO. Open the dashboard, hit 'Replay sample events' for a hands-free walkthrough — events stream onto the map spanning low to high risk. Show: report form -&gt; risk % -&gt; recommendation panel -&gt; hotspot heatmap (drag the hour slider to reveal the 2 AM &amp; 10-12 peaks) -&gt; pre-positioning list. Use the replay button, not live typing, so it's deterministic.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slide we're proudest of. We could have shown 92% accuracy and hoped. Instead: honest metrics, we caught our own leakage bug, recommendations backtested against real history, and we validated under both random and time-based splits. If you're judging on rigor, this is where we earn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Impact: proactive + reactive, and explainable so officers trust it. Roadmap is clearly labeled NOT YET BUILT — live feed, MapmyIndia routing/diversions, blast-radius zone, and a learning loop. We keep the line honest between what works today and what's future.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1695" cy="7166344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44068" y="1652300"/>
            <a:ext cx="1097280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dirty="0">
                <a:solidFill>
                  <a:srgbClr val="E6EDF3"/>
                </a:solidFill>
                <a:latin typeface="Arial"/>
              </a:rPr>
              <a:t>Event Congestion Command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447" y="2736395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dirty="0">
                <a:solidFill>
                  <a:srgbClr val="8B949E"/>
                </a:solidFill>
                <a:latin typeface="Arial"/>
              </a:rPr>
              <a:t>Predicting traffic-event impact for the Bengaluru Traffic Police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45236" y="3527351"/>
            <a:ext cx="3840480" cy="36576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6065" y="3708706"/>
            <a:ext cx="1097280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E6EDF3"/>
                </a:solidFill>
                <a:latin typeface="Arial"/>
              </a:rPr>
              <a:t>Flipkart Gridlock 2.0  ×  BTP</a:t>
            </a:r>
          </a:p>
          <a:p>
            <a:pPr algn="l">
              <a:lnSpc>
                <a:spcPct val="100000"/>
              </a:lnSpc>
            </a:pPr>
            <a:r>
              <a:rPr sz="1400" b="0" dirty="0">
                <a:solidFill>
                  <a:srgbClr val="8B949E"/>
                </a:solidFill>
                <a:latin typeface="Arial"/>
              </a:rPr>
              <a:t>Built on real </a:t>
            </a:r>
            <a:r>
              <a:rPr sz="1400" b="0" dirty="0" err="1">
                <a:solidFill>
                  <a:srgbClr val="8B949E"/>
                </a:solidFill>
                <a:latin typeface="Arial"/>
              </a:rPr>
              <a:t>ASTraM</a:t>
            </a:r>
            <a:r>
              <a:rPr sz="1400" b="0" dirty="0">
                <a:solidFill>
                  <a:srgbClr val="8B949E"/>
                </a:solidFill>
                <a:latin typeface="Arial"/>
              </a:rPr>
              <a:t> data </a:t>
            </a:r>
            <a:r>
              <a:rPr lang="en-US" sz="1400" b="0" dirty="0">
                <a:solidFill>
                  <a:srgbClr val="8B949E"/>
                </a:solidFill>
                <a:latin typeface="Arial"/>
              </a:rPr>
              <a:t>- </a:t>
            </a:r>
            <a:r>
              <a:rPr sz="1400" b="0" dirty="0">
                <a:solidFill>
                  <a:srgbClr val="8B949E"/>
                </a:solidFill>
                <a:latin typeface="Arial"/>
              </a:rPr>
              <a:t>8,173 actual traffic events (Nov 2023 </a:t>
            </a:r>
            <a:r>
              <a:rPr lang="en-US" sz="1400" b="0" dirty="0">
                <a:solidFill>
                  <a:srgbClr val="8B949E"/>
                </a:solidFill>
                <a:latin typeface="Arial"/>
              </a:rPr>
              <a:t>- </a:t>
            </a:r>
            <a:r>
              <a:rPr sz="1400" b="0" dirty="0">
                <a:solidFill>
                  <a:srgbClr val="8B949E"/>
                </a:solidFill>
                <a:latin typeface="Arial"/>
              </a:rPr>
              <a:t>Apr 2024). No simulations.</a:t>
            </a:r>
          </a:p>
        </p:txBody>
      </p:sp>
      <p:sp>
        <p:nvSpPr>
          <p:cNvPr id="7" name="Rectangle 6"/>
          <p:cNvSpPr/>
          <p:nvPr/>
        </p:nvSpPr>
        <p:spPr>
          <a:xfrm flipV="1">
            <a:off x="6334016" y="5866548"/>
            <a:ext cx="4032728" cy="45719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97302" y="6035040"/>
            <a:ext cx="6734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8B949E"/>
                </a:solidFill>
                <a:latin typeface="Arial"/>
              </a:rPr>
              <a:t>Team    </a:t>
            </a:r>
            <a:r>
              <a:rPr sz="1400" b="1" dirty="0">
                <a:solidFill>
                  <a:srgbClr val="E6EDF3"/>
                </a:solidFill>
                <a:latin typeface="Arial"/>
              </a:rPr>
              <a:t>Abhijeet Kumar</a:t>
            </a:r>
            <a:r>
              <a:rPr sz="1400" dirty="0">
                <a:solidFill>
                  <a:srgbClr val="58A6FF"/>
                </a:solidFill>
                <a:latin typeface="Arial"/>
              </a:rPr>
              <a:t>    ·    </a:t>
            </a:r>
            <a:r>
              <a:rPr sz="1400" b="1" dirty="0" err="1">
                <a:solidFill>
                  <a:srgbClr val="E6EDF3"/>
                </a:solidFill>
                <a:latin typeface="Arial"/>
              </a:rPr>
              <a:t>Sujaatali</a:t>
            </a:r>
            <a:r>
              <a:rPr sz="1400" b="1" dirty="0">
                <a:solidFill>
                  <a:srgbClr val="E6EDF3"/>
                </a:solidFill>
                <a:latin typeface="Arial"/>
              </a:rPr>
              <a:t> Agharia</a:t>
            </a:r>
            <a:r>
              <a:rPr sz="1400" dirty="0">
                <a:solidFill>
                  <a:srgbClr val="58A6FF"/>
                </a:solidFill>
                <a:latin typeface="Arial"/>
              </a:rPr>
              <a:t>    ·    </a:t>
            </a:r>
            <a:r>
              <a:rPr sz="1400" b="1" dirty="0">
                <a:solidFill>
                  <a:srgbClr val="E6EDF3"/>
                </a:solidFill>
                <a:latin typeface="Arial"/>
              </a:rPr>
              <a:t>Muskan </a:t>
            </a:r>
            <a:r>
              <a:rPr sz="1400" b="1" dirty="0" err="1">
                <a:solidFill>
                  <a:srgbClr val="E6EDF3"/>
                </a:solidFill>
                <a:latin typeface="Arial"/>
              </a:rPr>
              <a:t>Jarwal</a:t>
            </a:r>
            <a:endParaRPr sz="1400" b="1" dirty="0">
              <a:solidFill>
                <a:srgbClr val="E6EDF3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288"/>
            <a:ext cx="12192000" cy="7137424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85546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 dirty="0">
                <a:solidFill>
                  <a:srgbClr val="58A6FF"/>
                </a:solidFill>
                <a:latin typeface="Arial"/>
              </a:rPr>
              <a:t>THE PROBLEM ·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40004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000" b="1" dirty="0">
                <a:solidFill>
                  <a:srgbClr val="E6EDF3"/>
                </a:solidFill>
                <a:latin typeface="Arial"/>
              </a:rPr>
              <a:t>Traffic events break the city </a:t>
            </a:r>
            <a:r>
              <a:rPr lang="en-US" sz="2000" b="1" dirty="0">
                <a:solidFill>
                  <a:srgbClr val="E6EDF3"/>
                </a:solidFill>
                <a:latin typeface="Arial"/>
              </a:rPr>
              <a:t>- </a:t>
            </a:r>
            <a:r>
              <a:rPr sz="2000" b="1" dirty="0">
                <a:solidFill>
                  <a:srgbClr val="E6EDF3"/>
                </a:solidFill>
                <a:latin typeface="Arial"/>
              </a:rPr>
              <a:t>and today's response is reactive guesswork</a:t>
            </a:r>
          </a:p>
        </p:txBody>
      </p:sp>
      <p:pic>
        <p:nvPicPr>
          <p:cNvPr id="6" name="Picture 5" descr="illo_barrica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3934663"/>
            <a:ext cx="3794760" cy="235275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1417320"/>
            <a:ext cx="676656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62940" y="1458011"/>
            <a:ext cx="6766560" cy="73152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6309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F85149"/>
                </a:solidFill>
                <a:latin typeface="Arial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6309360" cy="7476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0" dirty="0">
                <a:solidFill>
                  <a:srgbClr val="E6EDF3"/>
                </a:solidFill>
                <a:latin typeface="Arial"/>
              </a:rPr>
              <a:t>Rallies, festivals, construction, tree-falls and breakdowns trigger sudden, </a:t>
            </a:r>
            <a:r>
              <a:rPr sz="1300" b="1" dirty="0">
                <a:solidFill>
                  <a:srgbClr val="E6EDF3"/>
                </a:solidFill>
                <a:latin typeface="Arial"/>
              </a:rPr>
              <a:t>localized traffic breakdowns</a:t>
            </a:r>
            <a:r>
              <a:rPr sz="1300" b="0" dirty="0">
                <a:solidFill>
                  <a:srgbClr val="E6EDF3"/>
                </a:solidFill>
                <a:latin typeface="Arial"/>
              </a:rPr>
              <a:t>.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0" dirty="0">
                <a:solidFill>
                  <a:srgbClr val="8B949E"/>
                </a:solidFill>
                <a:latin typeface="Arial"/>
              </a:rPr>
              <a:t>94% are unplanned </a:t>
            </a:r>
            <a:r>
              <a:rPr lang="en-US" sz="1200" b="0" dirty="0">
                <a:solidFill>
                  <a:srgbClr val="8B949E"/>
                </a:solidFill>
                <a:latin typeface="Arial"/>
              </a:rPr>
              <a:t>- </a:t>
            </a:r>
            <a:r>
              <a:rPr sz="1200" b="0" dirty="0">
                <a:solidFill>
                  <a:srgbClr val="8B949E"/>
                </a:solidFill>
                <a:latin typeface="Arial"/>
              </a:rPr>
              <a:t>they hit without warning.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90088"/>
            <a:ext cx="676656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2990088"/>
            <a:ext cx="6766560" cy="73152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172968"/>
            <a:ext cx="6309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D29922"/>
                </a:solidFill>
                <a:latin typeface="Arial"/>
              </a:rPr>
              <a:t>WHY IT'S HARD TODAY (THE NEED)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447288"/>
            <a:ext cx="6309360" cy="5308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 dirty="0">
                <a:solidFill>
                  <a:srgbClr val="E6EDF3"/>
                </a:solidFill>
                <a:latin typeface="Arial"/>
              </a:rPr>
              <a:t>• Event impact </a:t>
            </a:r>
            <a:r>
              <a:rPr sz="1250" b="1" dirty="0">
                <a:solidFill>
                  <a:srgbClr val="E6EDF3"/>
                </a:solidFill>
                <a:latin typeface="Arial"/>
              </a:rPr>
              <a:t>isn't quantified in advance</a:t>
            </a:r>
            <a:r>
              <a:rPr sz="1250" b="0" dirty="0">
                <a:solidFill>
                  <a:srgbClr val="E6EDF3"/>
                </a:solidFill>
                <a:latin typeface="Arial"/>
              </a:rPr>
              <a:t>   • Manpower is </a:t>
            </a:r>
            <a:r>
              <a:rPr sz="1250" b="1" dirty="0">
                <a:solidFill>
                  <a:srgbClr val="E6EDF3"/>
                </a:solidFill>
                <a:latin typeface="Arial"/>
              </a:rPr>
              <a:t>experience-driven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 dirty="0">
                <a:solidFill>
                  <a:srgbClr val="E6EDF3"/>
                </a:solidFill>
                <a:latin typeface="Arial"/>
              </a:rPr>
              <a:t>• </a:t>
            </a:r>
            <a:r>
              <a:rPr sz="1250" b="1" dirty="0">
                <a:solidFill>
                  <a:srgbClr val="E6EDF3"/>
                </a:solidFill>
                <a:latin typeface="Arial"/>
              </a:rPr>
              <a:t>No post-event learning</a:t>
            </a:r>
            <a:r>
              <a:rPr sz="1250" b="0" dirty="0">
                <a:solidFill>
                  <a:srgbClr val="8B949E"/>
                </a:solidFill>
                <a:latin typeface="Arial"/>
              </a:rPr>
              <a:t> </a:t>
            </a:r>
            <a:r>
              <a:rPr lang="en-US" sz="1250" b="0" dirty="0">
                <a:solidFill>
                  <a:srgbClr val="8B949E"/>
                </a:solidFill>
                <a:latin typeface="Arial"/>
              </a:rPr>
              <a:t>- </a:t>
            </a:r>
            <a:r>
              <a:rPr sz="1250" b="0" dirty="0">
                <a:solidFill>
                  <a:srgbClr val="8B949E"/>
                </a:solidFill>
                <a:latin typeface="Arial"/>
              </a:rPr>
              <a:t>the same mistakes repeat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562855"/>
            <a:ext cx="676656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4562855"/>
            <a:ext cx="6766560" cy="73152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745736"/>
            <a:ext cx="6309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3FB950"/>
                </a:solidFill>
                <a:latin typeface="Arial"/>
              </a:rPr>
              <a:t>OUR INTUITION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020055"/>
            <a:ext cx="6309360" cy="7630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 dirty="0">
                <a:solidFill>
                  <a:srgbClr val="E6EDF3"/>
                </a:solidFill>
                <a:latin typeface="Arial"/>
              </a:rPr>
              <a:t>The history already holds the answer. </a:t>
            </a:r>
            <a:r>
              <a:rPr sz="1300" b="0" dirty="0">
                <a:solidFill>
                  <a:srgbClr val="E6EDF3"/>
                </a:solidFill>
                <a:latin typeface="Arial"/>
              </a:rPr>
              <a:t>Learn from 8,173 real past events to predict an event's impact, 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0" dirty="0">
                <a:solidFill>
                  <a:srgbClr val="E6EDF3"/>
                </a:solidFill>
                <a:latin typeface="Arial"/>
              </a:rPr>
              <a:t>flag closure risk, and recommend the response </a:t>
            </a:r>
            <a:r>
              <a:rPr lang="en-US" sz="1300" b="0" dirty="0">
                <a:solidFill>
                  <a:srgbClr val="E6EDF3"/>
                </a:solidFill>
                <a:latin typeface="Arial"/>
              </a:rPr>
              <a:t>- </a:t>
            </a:r>
            <a:r>
              <a:rPr sz="1300" b="1" dirty="0">
                <a:solidFill>
                  <a:srgbClr val="3FB950"/>
                </a:solidFill>
                <a:latin typeface="Arial"/>
              </a:rPr>
              <a:t>before officers are committed.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2940" y="6044184"/>
            <a:ext cx="10927080" cy="777240"/>
          </a:xfrm>
          <a:prstGeom prst="rect">
            <a:avLst/>
          </a:prstGeom>
          <a:solidFill>
            <a:srgbClr val="162A1B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999378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350" b="1" dirty="0">
                <a:solidFill>
                  <a:srgbClr val="E6EDF3"/>
                </a:solidFill>
                <a:latin typeface="Arial"/>
              </a:rPr>
              <a:t>“How can historical + real-time data forecast event traffic impact and recommend optimal manpower, barricading &amp; diversion?”</a:t>
            </a:r>
          </a:p>
        </p:txBody>
      </p:sp>
      <p:pic>
        <p:nvPicPr>
          <p:cNvPr id="21" name="Picture 20" descr="illo_conges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5453" y="1513650"/>
            <a:ext cx="3197211" cy="228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58A6FF"/>
                </a:solidFill>
                <a:latin typeface="Arial"/>
              </a:rPr>
              <a:t>THE DATA · HOW WE BUILT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912" y="777240"/>
            <a:ext cx="10972800" cy="5134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2800" b="1" dirty="0">
                <a:solidFill>
                  <a:srgbClr val="E6EDF3"/>
                </a:solidFill>
                <a:latin typeface="Arial"/>
              </a:rPr>
              <a:t>From raw log to model-ready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2878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0" dirty="0">
                <a:solidFill>
                  <a:srgbClr val="8B949E"/>
                </a:solidFill>
                <a:latin typeface="Arial"/>
              </a:rPr>
              <a:t>Three small scripts run in sequence on the raw </a:t>
            </a:r>
            <a:r>
              <a:rPr sz="1300" b="0" dirty="0" err="1">
                <a:solidFill>
                  <a:srgbClr val="8B949E"/>
                </a:solidFill>
                <a:latin typeface="Arial"/>
              </a:rPr>
              <a:t>ASTraM</a:t>
            </a:r>
            <a:r>
              <a:rPr sz="1300" b="0" dirty="0">
                <a:solidFill>
                  <a:srgbClr val="8B949E"/>
                </a:solidFill>
                <a:latin typeface="Arial"/>
              </a:rPr>
              <a:t> file. No data invented </a:t>
            </a:r>
            <a:r>
              <a:rPr lang="en-US" sz="1300" b="0" dirty="0">
                <a:solidFill>
                  <a:srgbClr val="8B949E"/>
                </a:solidFill>
                <a:latin typeface="Arial"/>
              </a:rPr>
              <a:t>- </a:t>
            </a:r>
            <a:r>
              <a:rPr sz="1300" b="0" dirty="0">
                <a:solidFill>
                  <a:srgbClr val="8B949E"/>
                </a:solidFill>
                <a:latin typeface="Arial"/>
              </a:rPr>
              <a:t>every new column is derived from fields already in the log.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57400"/>
            <a:ext cx="352044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2057400"/>
            <a:ext cx="3520440" cy="64008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2258568"/>
            <a:ext cx="31181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3FB950"/>
                </a:solidFill>
                <a:latin typeface="Arial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32888"/>
            <a:ext cx="311810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1" dirty="0" err="1">
                <a:solidFill>
                  <a:srgbClr val="9CDCFE"/>
                </a:solidFill>
                <a:latin typeface="Consolas"/>
              </a:rPr>
              <a:t>add_locality_hotspot.py</a:t>
            </a:r>
            <a:endParaRPr sz="1300" b="1" dirty="0">
              <a:solidFill>
                <a:srgbClr val="9CDCFE"/>
              </a:solidFill>
              <a:latin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9808" y="2898648"/>
            <a:ext cx="31181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3FB950"/>
                </a:solidFill>
                <a:latin typeface="Consolas"/>
              </a:rPr>
              <a:t>→ locality_hotspot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264408"/>
            <a:ext cx="31181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b="0">
                <a:solidFill>
                  <a:srgbClr val="8B949E"/>
                </a:solidFill>
                <a:latin typeface="Arial"/>
              </a:rPr>
              <a:t>Problem: 38% of events sat in a useless </a:t>
            </a:r>
            <a:r>
              <a:rPr sz="1150" b="0">
                <a:solidFill>
                  <a:srgbClr val="E6EDF3"/>
                </a:solidFill>
                <a:latin typeface="Arial"/>
              </a:rPr>
              <a:t>"Non-corridor"</a:t>
            </a:r>
            <a:r>
              <a:rPr sz="1150" b="0">
                <a:solidFill>
                  <a:srgbClr val="8B949E"/>
                </a:solidFill>
                <a:latin typeface="Arial"/>
              </a:rPr>
              <a:t> blob.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840480"/>
            <a:ext cx="3118104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Arial"/>
              </a:rPr>
              <a:t>• Named corridors → keep their name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Arial"/>
              </a:rPr>
              <a:t>• Non-corridor → snap GPS to a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Arial"/>
              </a:rPr>
              <a:t>   ~1 km grid (0.009°) cell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Arial"/>
              </a:rPr>
              <a:t>• Name each cell = most common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Arial"/>
              </a:rPr>
              <a:t>   locality parsed from address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Arial"/>
              </a:rPr>
              <a:t>   (fallback: police_station)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Arial"/>
              </a:rPr>
              <a:t>• Cells &lt; 5 events → "Other"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50792" y="3429000"/>
            <a:ext cx="2926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2000" b="1">
                <a:solidFill>
                  <a:srgbClr val="58A6FF"/>
                </a:solidFill>
                <a:latin typeface="Arial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61688" y="2057400"/>
            <a:ext cx="352044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61688" y="2057400"/>
            <a:ext cx="3520440" cy="64008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62855" y="2258568"/>
            <a:ext cx="31181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D29922"/>
                </a:solidFill>
                <a:latin typeface="Arial"/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5" y="2532888"/>
            <a:ext cx="3118104" cy="2927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300" b="1" dirty="0" err="1">
                <a:solidFill>
                  <a:srgbClr val="9CDCFE"/>
                </a:solidFill>
                <a:latin typeface="Consolas"/>
              </a:rPr>
              <a:t>add_region.py</a:t>
            </a:r>
            <a:endParaRPr sz="1300" b="1" dirty="0">
              <a:solidFill>
                <a:srgbClr val="9CDCFE"/>
              </a:solidFill>
              <a:latin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62855" y="2898648"/>
            <a:ext cx="3118104" cy="2619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1" dirty="0">
                <a:solidFill>
                  <a:srgbClr val="3FB950"/>
                </a:solidFill>
                <a:latin typeface="Consolas"/>
              </a:rPr>
              <a:t>→ region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2855" y="3264408"/>
            <a:ext cx="3118104" cy="2652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150" dirty="0">
                <a:solidFill>
                  <a:srgbClr val="8B949E"/>
                </a:solidFill>
                <a:latin typeface="Arial"/>
              </a:rPr>
              <a:t>Group events into broad city zones</a:t>
            </a:r>
            <a:endParaRPr sz="1150" b="0" dirty="0">
              <a:solidFill>
                <a:srgbClr val="8B949E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62855" y="3840480"/>
            <a:ext cx="3118104" cy="14780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0" dirty="0">
                <a:solidFill>
                  <a:srgbClr val="E6EDF3"/>
                </a:solidFill>
                <a:latin typeface="Arial"/>
              </a:rPr>
              <a:t>• 3×3 grid over the data's </a:t>
            </a:r>
            <a:r>
              <a:rPr sz="1100" b="0" dirty="0" err="1">
                <a:solidFill>
                  <a:srgbClr val="E6EDF3"/>
                </a:solidFill>
                <a:latin typeface="Arial"/>
              </a:rPr>
              <a:t>bbox</a:t>
            </a:r>
            <a:r>
              <a:rPr sz="1100" b="0" dirty="0">
                <a:solidFill>
                  <a:srgbClr val="E6EDF3"/>
                </a:solidFill>
                <a:latin typeface="Arial"/>
              </a:rPr>
              <a:t> →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0" dirty="0">
                <a:solidFill>
                  <a:srgbClr val="E6EDF3"/>
                </a:solidFill>
                <a:latin typeface="Arial"/>
              </a:rPr>
              <a:t>   8 zones (South/Central/North ×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0" dirty="0">
                <a:solidFill>
                  <a:srgbClr val="E6EDF3"/>
                </a:solidFill>
                <a:latin typeface="Arial"/>
              </a:rPr>
              <a:t>   West/Central/East)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0" dirty="0">
                <a:solidFill>
                  <a:srgbClr val="E6EDF3"/>
                </a:solidFill>
                <a:latin typeface="Arial"/>
              </a:rPr>
              <a:t>• </a:t>
            </a:r>
            <a:r>
              <a:rPr lang="en-US" sz="1100" dirty="0">
                <a:solidFill>
                  <a:srgbClr val="E6EDF3"/>
                </a:solidFill>
                <a:latin typeface="Arial"/>
              </a:rPr>
              <a:t>Each event tagged by its GPS location (no coords → "Unknown")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100" dirty="0">
                <a:solidFill>
                  <a:srgbClr val="E6EDF3"/>
                </a:solidFill>
                <a:latin typeface="Arial"/>
              </a:rPr>
              <a:t>• Backup geo-signal: when a specific locality is too sparse, the model leans on its wider zone</a:t>
            </a:r>
            <a:endParaRPr lang="en-US" sz="1100" b="0" dirty="0">
              <a:solidFill>
                <a:srgbClr val="E6EDF3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63840" y="3429000"/>
            <a:ext cx="29260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2000" b="1">
                <a:solidFill>
                  <a:srgbClr val="58A6FF"/>
                </a:solidFill>
                <a:latin typeface="Arial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74736" y="2057400"/>
            <a:ext cx="3520440" cy="3383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74736" y="2057400"/>
            <a:ext cx="3520440" cy="6400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75904" y="2258568"/>
            <a:ext cx="31181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58A6FF"/>
                </a:solidFill>
                <a:latin typeface="Arial"/>
              </a:rPr>
              <a:t>STEP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75904" y="2532888"/>
            <a:ext cx="311810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 b="1" dirty="0" err="1">
                <a:solidFill>
                  <a:srgbClr val="9CDCFE"/>
                </a:solidFill>
                <a:latin typeface="Consolas"/>
              </a:rPr>
              <a:t>add_time_features.py</a:t>
            </a:r>
            <a:endParaRPr sz="1300" b="1" dirty="0">
              <a:solidFill>
                <a:srgbClr val="9CDCFE"/>
              </a:solidFill>
              <a:latin typeface="Consola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375904" y="2898648"/>
            <a:ext cx="31181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3FB950"/>
                </a:solidFill>
                <a:latin typeface="Consolas"/>
              </a:rPr>
              <a:t>→ hour · day · weekend · night · band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75904" y="3264408"/>
            <a:ext cx="31181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b="0">
                <a:solidFill>
                  <a:srgbClr val="8B949E"/>
                </a:solidFill>
                <a:latin typeface="Arial"/>
              </a:rPr>
              <a:t>Expose the daily rhythm of events.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5904" y="3840480"/>
            <a:ext cx="3118104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Arial"/>
              </a:rPr>
              <a:t>• Parse start_datetime in IST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Arial"/>
              </a:rPr>
              <a:t>• Derive hour, day_of_week,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Arial"/>
              </a:rPr>
              <a:t>   is_weekend, is_night, time_band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Arial"/>
              </a:rPr>
              <a:t>• Bands surface the two peaks: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Arial"/>
              </a:rPr>
              <a:t>   late_night (2 AM freight) +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Arial"/>
              </a:rPr>
              <a:t>   morning_rush (10 AM–noon)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Arial"/>
              </a:rPr>
              <a:t>• ISO8601 parse → no dropped rows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669280"/>
            <a:ext cx="11091672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48640" y="5669280"/>
            <a:ext cx="11091672" cy="6400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7240" y="5882766"/>
            <a:ext cx="10972800" cy="5057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50" b="0" dirty="0">
                <a:solidFill>
                  <a:srgbClr val="8B949E"/>
                </a:solidFill>
                <a:latin typeface="Arial"/>
              </a:rPr>
              <a:t>Raw CSV (46 cols, many 98–99% empty)  </a:t>
            </a:r>
            <a:r>
              <a:rPr sz="1250" b="1" dirty="0">
                <a:solidFill>
                  <a:srgbClr val="58A6FF"/>
                </a:solidFill>
                <a:latin typeface="Arial"/>
              </a:rPr>
              <a:t>→  Step 1  →  Step 2  →  Step 3  →  </a:t>
            </a:r>
            <a:r>
              <a:rPr sz="1250" b="1" dirty="0" err="1">
                <a:solidFill>
                  <a:srgbClr val="E6EDF3"/>
                </a:solidFill>
                <a:latin typeface="Consolas"/>
              </a:rPr>
              <a:t>astram_enriched.csv</a:t>
            </a:r>
            <a:r>
              <a:rPr sz="1250" b="1" dirty="0">
                <a:solidFill>
                  <a:srgbClr val="E6EDF3"/>
                </a:solidFill>
                <a:latin typeface="Consolas"/>
              </a:rPr>
              <a:t>  (53 cols · 8,173 rows · model-ready)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150" b="0" dirty="0">
                <a:solidFill>
                  <a:srgbClr val="8B949E"/>
                </a:solidFill>
                <a:latin typeface="Arial"/>
              </a:rPr>
              <a:t>We enriched the d</a:t>
            </a:r>
            <a:r>
              <a:rPr lang="en-US" sz="1150" b="0" dirty="0">
                <a:solidFill>
                  <a:srgbClr val="8B949E"/>
                </a:solidFill>
                <a:latin typeface="Arial"/>
              </a:rPr>
              <a:t>ata ,</a:t>
            </a:r>
            <a:r>
              <a:rPr sz="1150" b="0" dirty="0">
                <a:solidFill>
                  <a:srgbClr val="8B949E"/>
                </a:solidFill>
                <a:latin typeface="Arial"/>
              </a:rPr>
              <a:t> we didn't replace it</a:t>
            </a:r>
            <a:r>
              <a:rPr lang="en-US" sz="1150" b="0" dirty="0">
                <a:solidFill>
                  <a:srgbClr val="8B949E"/>
                </a:solidFill>
                <a:latin typeface="Arial"/>
              </a:rPr>
              <a:t> -</a:t>
            </a:r>
            <a:r>
              <a:rPr sz="1150" b="0" dirty="0">
                <a:solidFill>
                  <a:srgbClr val="8B949E"/>
                </a:solidFill>
                <a:latin typeface="Arial"/>
              </a:rPr>
              <a:t> the whole pipeline re-runs from the raw file the organizers gave 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832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965960"/>
          <a:ext cx="685800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E6EDF3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T="25400" marB="25400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 dirty="0">
                          <a:solidFill>
                            <a:srgbClr val="8B949E"/>
                          </a:solidFill>
                          <a:latin typeface="Arial"/>
                        </a:rPr>
                        <a:t>ROC-AUC</a:t>
                      </a:r>
                    </a:p>
                  </a:txBody>
                  <a:tcPr marT="25400" marB="25400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58A6FF"/>
                          </a:solidFill>
                          <a:latin typeface="Arial"/>
                        </a:rPr>
                        <a:t>PR-AUC  ⭐</a:t>
                      </a:r>
                    </a:p>
                  </a:txBody>
                  <a:tcPr marT="25400" marB="25400" anchor="ctr"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700" b="1" dirty="0" err="1">
                          <a:solidFill>
                            <a:srgbClr val="3FB950"/>
                          </a:solidFill>
                          <a:latin typeface="Arial"/>
                        </a:rPr>
                        <a:t>XGBoost</a:t>
                      </a:r>
                      <a:r>
                        <a:rPr sz="1700" b="1" dirty="0">
                          <a:solidFill>
                            <a:srgbClr val="3FB950"/>
                          </a:solidFill>
                          <a:latin typeface="Arial"/>
                        </a:rPr>
                        <a:t>   🏆</a:t>
                      </a:r>
                    </a:p>
                  </a:txBody>
                  <a:tcPr marT="25400" marB="25400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E6EDF3"/>
                          </a:solidFill>
                          <a:latin typeface="Arial"/>
                        </a:rPr>
                        <a:t>0.80</a:t>
                      </a:r>
                    </a:p>
                  </a:txBody>
                  <a:tcPr marT="25400" marB="25400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3FB950"/>
                          </a:solidFill>
                          <a:latin typeface="Arial"/>
                        </a:rPr>
                        <a:t>0.44</a:t>
                      </a:r>
                    </a:p>
                  </a:txBody>
                  <a:tcPr marT="25400" marB="25400" anchor="ctr"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E6EDF3"/>
                          </a:solidFill>
                          <a:latin typeface="Arial"/>
                        </a:rPr>
                        <a:t>HistGradientBoosting</a:t>
                      </a:r>
                    </a:p>
                  </a:txBody>
                  <a:tcPr marT="25400" marB="25400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8B949E"/>
                          </a:solidFill>
                          <a:latin typeface="Arial"/>
                        </a:rPr>
                        <a:t>0.77</a:t>
                      </a:r>
                    </a:p>
                  </a:txBody>
                  <a:tcPr marT="25400" marB="25400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8B949E"/>
                          </a:solidFill>
                          <a:latin typeface="Arial"/>
                        </a:rPr>
                        <a:t>0.41</a:t>
                      </a:r>
                    </a:p>
                  </a:txBody>
                  <a:tcPr marT="25400" marB="25400" anchor="ctr"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E6EDF3"/>
                          </a:solidFill>
                          <a:latin typeface="Arial"/>
                        </a:rPr>
                        <a:t>LightGBM</a:t>
                      </a:r>
                    </a:p>
                  </a:txBody>
                  <a:tcPr marT="25400" marB="25400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8B949E"/>
                          </a:solidFill>
                          <a:latin typeface="Arial"/>
                        </a:rPr>
                        <a:t>0.78</a:t>
                      </a:r>
                    </a:p>
                  </a:txBody>
                  <a:tcPr marT="25400" marB="25400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 dirty="0">
                          <a:solidFill>
                            <a:srgbClr val="8B949E"/>
                          </a:solidFill>
                          <a:latin typeface="Arial"/>
                        </a:rPr>
                        <a:t>0.41</a:t>
                      </a:r>
                    </a:p>
                  </a:txBody>
                  <a:tcPr marT="25400" marB="25400" anchor="ctr"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657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 dirty="0">
                <a:solidFill>
                  <a:srgbClr val="58A6FF"/>
                </a:solidFill>
                <a:latin typeface="Arial"/>
              </a:rPr>
              <a:t>MODEL SELECTION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740664"/>
            <a:ext cx="10972800" cy="4983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700" b="1" dirty="0">
                <a:solidFill>
                  <a:srgbClr val="E6EDF3"/>
                </a:solidFill>
                <a:latin typeface="Arial"/>
              </a:rPr>
              <a:t>We tested 3 models </a:t>
            </a:r>
            <a:r>
              <a:rPr lang="en-US" sz="2700" b="1" dirty="0">
                <a:solidFill>
                  <a:srgbClr val="E6EDF3"/>
                </a:solidFill>
                <a:latin typeface="Arial"/>
              </a:rPr>
              <a:t>-</a:t>
            </a:r>
            <a:r>
              <a:rPr sz="2700" b="1" dirty="0">
                <a:solidFill>
                  <a:srgbClr val="E6EDF3"/>
                </a:solidFill>
                <a:latin typeface="Arial"/>
              </a:rPr>
              <a:t> a fair bake-off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8B949E"/>
                </a:solidFill>
                <a:latin typeface="Arial"/>
              </a:rPr>
              <a:t>Same data, same 75/25 split, same imbalance handling. We let the data pick the winner.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1014" y="1874519"/>
            <a:ext cx="4169026" cy="2697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55080" y="4590288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>
                <a:solidFill>
                  <a:srgbClr val="8B949E"/>
                </a:solidFill>
                <a:latin typeface="Arial"/>
              </a:rPr>
              <a:t>Same held-out 25% · PR-AUC = the rare-event tiebreaker.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251960"/>
            <a:ext cx="5577840" cy="9601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4526722"/>
            <a:ext cx="5212080" cy="4928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1" dirty="0">
                <a:solidFill>
                  <a:srgbClr val="58A6FF"/>
                </a:solidFill>
                <a:latin typeface="Arial"/>
              </a:rPr>
              <a:t>Why PR-AUC?  </a:t>
            </a:r>
            <a:r>
              <a:rPr sz="1250" b="0" dirty="0">
                <a:solidFill>
                  <a:srgbClr val="E6EDF3"/>
                </a:solidFill>
                <a:latin typeface="Arial"/>
              </a:rPr>
              <a:t>Closures are rare (8.3%).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0" dirty="0">
                <a:solidFill>
                  <a:srgbClr val="8B949E"/>
                </a:solidFill>
                <a:latin typeface="Arial"/>
              </a:rPr>
              <a:t>PR-AUC is the honest metric for catching rare events </a:t>
            </a:r>
            <a:r>
              <a:rPr lang="en-US" sz="1150" b="0" dirty="0">
                <a:solidFill>
                  <a:srgbClr val="8B949E"/>
                </a:solidFill>
                <a:latin typeface="Arial"/>
              </a:rPr>
              <a:t>- </a:t>
            </a:r>
            <a:r>
              <a:rPr sz="1150" b="0" dirty="0">
                <a:solidFill>
                  <a:srgbClr val="8B949E"/>
                </a:solidFill>
                <a:latin typeface="Arial"/>
              </a:rPr>
              <a:t>so it's our tiebreaker.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532120"/>
            <a:ext cx="10927080" cy="777240"/>
          </a:xfrm>
          <a:prstGeom prst="rect">
            <a:avLst/>
          </a:prstGeom>
          <a:solidFill>
            <a:srgbClr val="162A1B"/>
          </a:solidFill>
          <a:ln w="1524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5761786"/>
            <a:ext cx="10515600" cy="3179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500" b="1" dirty="0" err="1">
                <a:solidFill>
                  <a:srgbClr val="E6EDF3"/>
                </a:solidFill>
                <a:latin typeface="Arial"/>
              </a:rPr>
              <a:t>XGBoost</a:t>
            </a:r>
            <a:r>
              <a:rPr sz="1500" b="1" dirty="0">
                <a:solidFill>
                  <a:srgbClr val="E6EDF3"/>
                </a:solidFill>
                <a:latin typeface="Arial"/>
              </a:rPr>
              <a:t> won on PR-AUC </a:t>
            </a:r>
            <a:r>
              <a:rPr lang="en-US" sz="1500" b="1" dirty="0">
                <a:solidFill>
                  <a:srgbClr val="E6EDF3"/>
                </a:solidFill>
                <a:latin typeface="Arial"/>
              </a:rPr>
              <a:t>-</a:t>
            </a:r>
            <a:r>
              <a:rPr sz="1500" b="1" dirty="0">
                <a:solidFill>
                  <a:srgbClr val="E6EDF3"/>
                </a:solidFill>
                <a:latin typeface="Arial"/>
              </a:rPr>
              <a:t> the metric that matters for rare events. </a:t>
            </a:r>
            <a:r>
              <a:rPr sz="1500" b="1" dirty="0">
                <a:solidFill>
                  <a:srgbClr val="3FB950"/>
                </a:solidFill>
                <a:latin typeface="Arial"/>
              </a:rPr>
              <a:t>That's the model we kept.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8A6FF"/>
                </a:solidFill>
                <a:latin typeface="Arial"/>
              </a:rPr>
              <a:t>MODEL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dirty="0">
                <a:solidFill>
                  <a:srgbClr val="E6EDF3"/>
                </a:solidFill>
                <a:latin typeface="Arial"/>
              </a:rPr>
              <a:t>How good is it</a:t>
            </a:r>
            <a:r>
              <a:rPr lang="en-US" sz="3000" b="1" dirty="0">
                <a:solidFill>
                  <a:srgbClr val="E6EDF3"/>
                </a:solidFill>
                <a:latin typeface="Arial"/>
              </a:rPr>
              <a:t> ? </a:t>
            </a:r>
            <a:endParaRPr sz="3000" b="1" dirty="0">
              <a:solidFill>
                <a:srgbClr val="E6EDF3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22960" y="1600200"/>
            <a:ext cx="105156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10058400" cy="7848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dirty="0">
                <a:solidFill>
                  <a:srgbClr val="D29922"/>
                </a:solidFill>
                <a:latin typeface="Arial"/>
              </a:rPr>
              <a:t>⚠  Only 8.3% of events cause a closure. </a:t>
            </a:r>
            <a:r>
              <a:rPr sz="1500" b="0" dirty="0">
                <a:solidFill>
                  <a:srgbClr val="E6EDF3"/>
                </a:solidFill>
                <a:latin typeface="Arial"/>
              </a:rPr>
              <a:t>So "accuracy" is misleading </a:t>
            </a:r>
            <a:r>
              <a:rPr lang="en-US" sz="1500" b="0" dirty="0">
                <a:solidFill>
                  <a:srgbClr val="E6EDF3"/>
                </a:solidFill>
                <a:latin typeface="Arial"/>
              </a:rPr>
              <a:t>- </a:t>
            </a:r>
            <a:r>
              <a:rPr sz="1500" b="0" dirty="0">
                <a:solidFill>
                  <a:srgbClr val="E6EDF3"/>
                </a:solidFill>
                <a:latin typeface="Arial"/>
              </a:rPr>
              <a:t>a model that says "never close" scores 92% and is useless.</a:t>
            </a:r>
          </a:p>
          <a:p>
            <a:pPr algn="l">
              <a:lnSpc>
                <a:spcPct val="100000"/>
              </a:lnSpc>
            </a:pPr>
            <a:r>
              <a:rPr sz="1500" b="1" dirty="0">
                <a:solidFill>
                  <a:srgbClr val="E6EDF3"/>
                </a:solidFill>
                <a:latin typeface="Arial"/>
              </a:rPr>
              <a:t>We measure what counts: do we catch the real closures?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029293"/>
              </p:ext>
            </p:extLst>
          </p:nvPr>
        </p:nvGraphicFramePr>
        <p:xfrm>
          <a:off x="822960" y="2690036"/>
          <a:ext cx="10241280" cy="24763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92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48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7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265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E6EDF3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T="25400" marB="25400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58A6FF"/>
                          </a:solidFill>
                          <a:latin typeface="Arial"/>
                        </a:rPr>
                        <a:t>Score</a:t>
                      </a:r>
                    </a:p>
                  </a:txBody>
                  <a:tcPr marT="25400" marB="25400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8B949E"/>
                          </a:solidFill>
                          <a:latin typeface="Arial"/>
                        </a:rPr>
                        <a:t>What it means</a:t>
                      </a:r>
                    </a:p>
                  </a:txBody>
                  <a:tcPr marT="25400" marB="25400" anchor="ctr"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265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E6EDF3"/>
                          </a:solidFill>
                          <a:latin typeface="Arial"/>
                        </a:rPr>
                        <a:t>PR-AUC</a:t>
                      </a:r>
                    </a:p>
                  </a:txBody>
                  <a:tcPr marT="25400" marB="25400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3FB950"/>
                          </a:solidFill>
                          <a:latin typeface="Arial"/>
                        </a:rPr>
                        <a:t>0.44</a:t>
                      </a:r>
                    </a:p>
                  </a:txBody>
                  <a:tcPr marT="25400" marB="25400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E6EDF3"/>
                          </a:solidFill>
                          <a:latin typeface="Arial"/>
                        </a:rPr>
                        <a:t>~5× better than random (0.08)</a:t>
                      </a:r>
                    </a:p>
                  </a:txBody>
                  <a:tcPr marT="25400" marB="25400" anchor="ctr"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265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E6EDF3"/>
                          </a:solidFill>
                          <a:latin typeface="Arial"/>
                        </a:rPr>
                        <a:t>ROC-AUC</a:t>
                      </a:r>
                    </a:p>
                  </a:txBody>
                  <a:tcPr marT="25400" marB="25400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3FB950"/>
                          </a:solidFill>
                          <a:latin typeface="Arial"/>
                        </a:rPr>
                        <a:t>0.80</a:t>
                      </a:r>
                    </a:p>
                  </a:txBody>
                  <a:tcPr marT="25400" marB="25400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E6EDF3"/>
                          </a:solidFill>
                          <a:latin typeface="Arial"/>
                        </a:rPr>
                        <a:t>Ranks a closure above a non-closure 4 of 5 times</a:t>
                      </a:r>
                    </a:p>
                  </a:txBody>
                  <a:tcPr marT="25400" marB="25400" anchor="ctr"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265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E6EDF3"/>
                          </a:solidFill>
                          <a:latin typeface="Arial"/>
                        </a:rPr>
                        <a:t>Recall</a:t>
                      </a:r>
                    </a:p>
                  </a:txBody>
                  <a:tcPr marT="25400" marB="25400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3FB950"/>
                          </a:solidFill>
                          <a:latin typeface="Arial"/>
                        </a:rPr>
                        <a:t>54%</a:t>
                      </a:r>
                    </a:p>
                  </a:txBody>
                  <a:tcPr marT="25400" marB="25400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E6EDF3"/>
                          </a:solidFill>
                          <a:latin typeface="Arial"/>
                        </a:rPr>
                        <a:t>Catches 54% of real closures (at our 0.40 threshold)</a:t>
                      </a:r>
                    </a:p>
                  </a:txBody>
                  <a:tcPr marT="25400" marB="25400" anchor="ctr"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265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E6EDF3"/>
                          </a:solidFill>
                          <a:latin typeface="Arial"/>
                        </a:rPr>
                        <a:t>Backtest</a:t>
                      </a:r>
                    </a:p>
                  </a:txBody>
                  <a:tcPr marT="25400" marB="25400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3FB950"/>
                          </a:solidFill>
                          <a:latin typeface="Arial"/>
                        </a:rPr>
                        <a:t>4.2×</a:t>
                      </a:r>
                    </a:p>
                  </a:txBody>
                  <a:tcPr marT="25400" marB="25400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E6EDF3"/>
                          </a:solidFill>
                          <a:latin typeface="Arial"/>
                        </a:rPr>
                        <a:t>Flagged events actually closed 4.2× more often</a:t>
                      </a:r>
                    </a:p>
                  </a:txBody>
                  <a:tcPr marT="25400" marB="25400" anchor="ctr"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58A6FF"/>
                </a:solidFill>
                <a:latin typeface="Arial"/>
              </a:rPr>
              <a:t>“We'd rather show a true 0.44 than a fake 0.99.” Every number is on data the model never saw.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9428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300" b="1">
                <a:solidFill>
                  <a:srgbClr val="58A6FF"/>
                </a:solidFill>
                <a:latin typeface="Arial"/>
              </a:rPr>
              <a:t>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800" b="1" dirty="0">
                <a:solidFill>
                  <a:srgbClr val="E6EDF3"/>
                </a:solidFill>
                <a:latin typeface="Arial"/>
              </a:rPr>
              <a:t>Three models, one command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286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300" b="0" dirty="0">
                <a:solidFill>
                  <a:srgbClr val="8B949E"/>
                </a:solidFill>
                <a:latin typeface="Arial"/>
              </a:rPr>
              <a:t>Each model answers one question </a:t>
            </a:r>
            <a:r>
              <a:rPr lang="en-US" sz="1300" b="0" dirty="0">
                <a:solidFill>
                  <a:srgbClr val="8B949E"/>
                </a:solidFill>
                <a:latin typeface="Arial"/>
              </a:rPr>
              <a:t>- </a:t>
            </a:r>
            <a:r>
              <a:rPr sz="1300" b="0" dirty="0">
                <a:solidFill>
                  <a:srgbClr val="8B949E"/>
                </a:solidFill>
                <a:latin typeface="Arial"/>
              </a:rPr>
              <a:t>and each claim is backed by the real data shown below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37360"/>
            <a:ext cx="3566160" cy="1965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3566160" cy="9144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19202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100" b="1">
                <a:solidFill>
                  <a:srgbClr val="3FB950"/>
                </a:solidFill>
                <a:latin typeface="Arial"/>
              </a:rPr>
              <a:t>MODEL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157984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900" b="1">
                <a:solidFill>
                  <a:srgbClr val="E6EDF3"/>
                </a:solidFill>
                <a:latin typeface="Arial"/>
              </a:rPr>
              <a:t>Closure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523744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00" b="0">
                <a:solidFill>
                  <a:srgbClr val="8B949E"/>
                </a:solidFill>
                <a:latin typeface="Arial"/>
              </a:rPr>
              <a:t>Will this event shut the road?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816352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00" b="1">
                <a:solidFill>
                  <a:srgbClr val="8B949E"/>
                </a:solidFill>
                <a:latin typeface="Consolas"/>
              </a:rPr>
              <a:t>INPUT  </a:t>
            </a:r>
            <a:r>
              <a:rPr sz="1000" b="0">
                <a:solidFill>
                  <a:srgbClr val="E6EDF3"/>
                </a:solidFill>
                <a:latin typeface="Arial"/>
              </a:rPr>
              <a:t>event cause · location · time</a:t>
            </a:r>
          </a:p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00" b="1">
                <a:solidFill>
                  <a:srgbClr val="8B949E"/>
                </a:solidFill>
                <a:latin typeface="Consolas"/>
              </a:rPr>
              <a:t>METHOD </a:t>
            </a:r>
            <a:r>
              <a:rPr sz="1000" b="0">
                <a:solidFill>
                  <a:srgbClr val="E6EDF3"/>
                </a:solidFill>
                <a:latin typeface="Arial"/>
              </a:rPr>
              <a:t>XGBoost classifier (one-hot)</a:t>
            </a:r>
          </a:p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00" b="1">
                <a:solidFill>
                  <a:srgbClr val="8B949E"/>
                </a:solidFill>
                <a:latin typeface="Consolas"/>
              </a:rPr>
              <a:t>OUTPUT </a:t>
            </a:r>
            <a:r>
              <a:rPr sz="1000" b="0">
                <a:solidFill>
                  <a:srgbClr val="E6EDF3"/>
                </a:solidFill>
                <a:latin typeface="Arial"/>
              </a:rPr>
              <a:t>closure probability + risk tier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703320"/>
            <a:ext cx="3566160" cy="310896"/>
          </a:xfrm>
          <a:prstGeom prst="rect">
            <a:avLst/>
          </a:prstGeom>
          <a:solidFill>
            <a:srgbClr val="21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3685032"/>
            <a:ext cx="32004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100" b="1">
                <a:solidFill>
                  <a:srgbClr val="3FB950"/>
                </a:solidFill>
                <a:latin typeface="Arial"/>
              </a:rPr>
              <a:t>✓ PR-AUC 0.44 · ROC 0.80 · recall 54%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30" y="4114800"/>
            <a:ext cx="2871139" cy="187451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050792" y="2468880"/>
            <a:ext cx="256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200"/>
              </a:spcAft>
            </a:pPr>
            <a:r>
              <a:rPr sz="2000" b="1">
                <a:solidFill>
                  <a:srgbClr val="58A6FF"/>
                </a:solidFill>
                <a:latin typeface="Arial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5112" y="1737360"/>
            <a:ext cx="3566160" cy="1965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25112" y="1737360"/>
            <a:ext cx="3566160" cy="91440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26279" y="19202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100" b="1">
                <a:solidFill>
                  <a:srgbClr val="D29922"/>
                </a:solidFill>
                <a:latin typeface="Arial"/>
              </a:rPr>
              <a:t>MODEL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2157984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900" b="1" dirty="0">
                <a:solidFill>
                  <a:srgbClr val="E6EDF3"/>
                </a:solidFill>
                <a:latin typeface="Arial"/>
              </a:rPr>
              <a:t>Hotspot Forecaster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79" y="2523744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00" b="0">
                <a:solidFill>
                  <a:srgbClr val="8B949E"/>
                </a:solidFill>
                <a:latin typeface="Arial"/>
              </a:rPr>
              <a:t>Where &amp; when do events cluster?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79" y="2816352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00" b="1">
                <a:solidFill>
                  <a:srgbClr val="8B949E"/>
                </a:solidFill>
                <a:latin typeface="Consolas"/>
              </a:rPr>
              <a:t>INPUT  </a:t>
            </a:r>
            <a:r>
              <a:rPr sz="1000" b="0">
                <a:solidFill>
                  <a:srgbClr val="E6EDF3"/>
                </a:solidFill>
                <a:latin typeface="Arial"/>
              </a:rPr>
              <a:t>location × hour × day-of-week</a:t>
            </a:r>
          </a:p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00" b="1">
                <a:solidFill>
                  <a:srgbClr val="8B949E"/>
                </a:solidFill>
                <a:latin typeface="Consolas"/>
              </a:rPr>
              <a:t>METHOD </a:t>
            </a:r>
            <a:r>
              <a:rPr sz="1000" b="0">
                <a:solidFill>
                  <a:srgbClr val="E6EDF3"/>
                </a:solidFill>
                <a:latin typeface="Arial"/>
              </a:rPr>
              <a:t>Poisson rates + EB shrinkage</a:t>
            </a:r>
          </a:p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00" b="1">
                <a:solidFill>
                  <a:srgbClr val="8B949E"/>
                </a:solidFill>
                <a:latin typeface="Consolas"/>
              </a:rPr>
              <a:t>OUTPUT </a:t>
            </a:r>
            <a:r>
              <a:rPr sz="1000" b="0">
                <a:solidFill>
                  <a:srgbClr val="E6EDF3"/>
                </a:solidFill>
                <a:latin typeface="Arial"/>
              </a:rPr>
              <a:t>expected events per cell (risk map)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5112" y="3703320"/>
            <a:ext cx="3566160" cy="310896"/>
          </a:xfrm>
          <a:prstGeom prst="rect">
            <a:avLst/>
          </a:prstGeom>
          <a:solidFill>
            <a:srgbClr val="21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26279" y="3685032"/>
            <a:ext cx="32004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100" b="1">
                <a:solidFill>
                  <a:srgbClr val="D29922"/>
                </a:solidFill>
                <a:latin typeface="Arial"/>
              </a:rPr>
              <a:t>✓ −27% MAE vs naive · rank corr 0.32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622" y="4114800"/>
            <a:ext cx="2871139" cy="187451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872983" y="2468880"/>
            <a:ext cx="256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200"/>
              </a:spcAft>
            </a:pPr>
            <a:r>
              <a:rPr sz="2000" b="1">
                <a:solidFill>
                  <a:srgbClr val="58A6FF"/>
                </a:solidFill>
                <a:latin typeface="Arial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47304" y="1737360"/>
            <a:ext cx="3566160" cy="1965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47304" y="1737360"/>
            <a:ext cx="3566160" cy="91440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48472" y="19202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100" b="1">
                <a:solidFill>
                  <a:srgbClr val="F85149"/>
                </a:solidFill>
                <a:latin typeface="Arial"/>
              </a:rPr>
              <a:t>MODEL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8472" y="2157984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900" b="1">
                <a:solidFill>
                  <a:srgbClr val="E6EDF3"/>
                </a:solidFill>
                <a:latin typeface="Arial"/>
              </a:rPr>
              <a:t>Recommendation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8472" y="2523744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200" b="0">
                <a:solidFill>
                  <a:srgbClr val="8B949E"/>
                </a:solidFill>
                <a:latin typeface="Arial"/>
              </a:rPr>
              <a:t>What should the police do?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8472" y="2816352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00" b="1">
                <a:solidFill>
                  <a:srgbClr val="8B949E"/>
                </a:solidFill>
                <a:latin typeface="Consolas"/>
              </a:rPr>
              <a:t>INPUT  </a:t>
            </a:r>
            <a:r>
              <a:rPr sz="1000" b="0">
                <a:solidFill>
                  <a:srgbClr val="E6EDF3"/>
                </a:solidFill>
                <a:latin typeface="Arial"/>
              </a:rPr>
              <a:t>Model 1 risk + Model 2 hotspots</a:t>
            </a:r>
          </a:p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00" b="1">
                <a:solidFill>
                  <a:srgbClr val="8B949E"/>
                </a:solidFill>
                <a:latin typeface="Consolas"/>
              </a:rPr>
              <a:t>METHOD </a:t>
            </a:r>
            <a:r>
              <a:rPr sz="1000" b="0">
                <a:solidFill>
                  <a:srgbClr val="E6EDF3"/>
                </a:solidFill>
                <a:latin typeface="Arial"/>
              </a:rPr>
              <a:t>transparent rules (documented)</a:t>
            </a:r>
          </a:p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000" b="1">
                <a:solidFill>
                  <a:srgbClr val="8B949E"/>
                </a:solidFill>
                <a:latin typeface="Consolas"/>
              </a:rPr>
              <a:t>OUTPUT </a:t>
            </a:r>
            <a:r>
              <a:rPr sz="1000" b="0">
                <a:solidFill>
                  <a:srgbClr val="E6EDF3"/>
                </a:solidFill>
                <a:latin typeface="Arial"/>
              </a:rPr>
              <a:t>officers · barricade · pre-position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47304" y="3703320"/>
            <a:ext cx="3566160" cy="310896"/>
          </a:xfrm>
          <a:prstGeom prst="rect">
            <a:avLst/>
          </a:prstGeom>
          <a:solidFill>
            <a:srgbClr val="21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48472" y="3685032"/>
            <a:ext cx="32004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100" b="1">
                <a:solidFill>
                  <a:srgbClr val="F85149"/>
                </a:solidFill>
                <a:latin typeface="Arial"/>
              </a:rPr>
              <a:t>✓ backtested 4.2× closure lift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4814" y="4114800"/>
            <a:ext cx="2871139" cy="187451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200"/>
              </a:spcAft>
            </a:pPr>
            <a:r>
              <a:rPr sz="1200" b="0">
                <a:solidFill>
                  <a:srgbClr val="8B949E"/>
                </a:solidFill>
                <a:latin typeface="Arial"/>
              </a:rPr>
              <a:t>Predict impact  →  locate hotspots  →  recommend response — every number above is from the held-out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8A6FF"/>
                </a:solidFill>
                <a:latin typeface="Arial"/>
              </a:rPr>
              <a:t>MODEL 3 · RECOMMENDATION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E6EDF3"/>
                </a:solidFill>
                <a:latin typeface="Arial"/>
              </a:rPr>
              <a:t>How recommendations are made — transparent, not guessed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B949E"/>
                </a:solidFill>
                <a:latin typeface="Arial"/>
              </a:rPr>
              <a:t>Closure risk (Model 1) + the cause's closure tendency → a fixed, explainable officer/barricade grid. No black box.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57400"/>
            <a:ext cx="544068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8A6FF"/>
                </a:solidFill>
                <a:latin typeface="Arial"/>
              </a:rPr>
              <a:t>CAUSE ‘CLOSURE TENDENCY’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4203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B949E"/>
                </a:solidFill>
                <a:latin typeface="Arial"/>
              </a:rPr>
              <a:t>how often each cause historically forced a road closure (from ASTraM)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971800"/>
            <a:ext cx="146304" cy="868680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953512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85149"/>
                </a:solidFill>
                <a:latin typeface="Arial"/>
              </a:rPr>
              <a:t>HIGH  </a:t>
            </a:r>
            <a:r>
              <a:rPr sz="1100" b="0">
                <a:solidFill>
                  <a:srgbClr val="8B949E"/>
                </a:solidFill>
                <a:latin typeface="Arial"/>
              </a:rPr>
              <a:t>(≥ 25% closed)</a:t>
            </a:r>
          </a:p>
          <a:p>
            <a:pPr algn="l">
              <a:lnSpc>
                <a:spcPct val="105000"/>
              </a:lnSpc>
            </a:pPr>
            <a:r>
              <a:rPr sz="1200" b="0">
                <a:solidFill>
                  <a:srgbClr val="E6EDF3"/>
                </a:solidFill>
                <a:latin typeface="Arial"/>
              </a:rPr>
              <a:t>vip_movement, public_event, protest, tree_fall, construction, procession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3931920"/>
            <a:ext cx="146304" cy="868680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913632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D29922"/>
                </a:solidFill>
                <a:latin typeface="Arial"/>
              </a:rPr>
              <a:t>MEDIUM  </a:t>
            </a:r>
            <a:r>
              <a:rPr sz="1100" b="0">
                <a:solidFill>
                  <a:srgbClr val="8B949E"/>
                </a:solidFill>
                <a:latin typeface="Arial"/>
              </a:rPr>
              <a:t>(8 – 25%)</a:t>
            </a:r>
          </a:p>
          <a:p>
            <a:pPr algn="l">
              <a:lnSpc>
                <a:spcPct val="105000"/>
              </a:lnSpc>
            </a:pPr>
            <a:r>
              <a:rPr sz="1200" b="0">
                <a:solidFill>
                  <a:srgbClr val="E6EDF3"/>
                </a:solidFill>
                <a:latin typeface="Arial"/>
              </a:rPr>
              <a:t>road_conditions, water_logging, others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4892040"/>
            <a:ext cx="146304" cy="86868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873752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3FB950"/>
                </a:solidFill>
                <a:latin typeface="Arial"/>
              </a:rPr>
              <a:t>LOW  </a:t>
            </a:r>
            <a:r>
              <a:rPr sz="1100" b="0">
                <a:solidFill>
                  <a:srgbClr val="8B949E"/>
                </a:solidFill>
                <a:latin typeface="Arial"/>
              </a:rPr>
              <a:t>(&lt; 8%)</a:t>
            </a:r>
          </a:p>
          <a:p>
            <a:pPr algn="l">
              <a:lnSpc>
                <a:spcPct val="105000"/>
              </a:lnSpc>
            </a:pPr>
            <a:r>
              <a:rPr sz="1200" b="0">
                <a:solidFill>
                  <a:srgbClr val="E6EDF3"/>
                </a:solidFill>
                <a:latin typeface="Arial"/>
              </a:rPr>
              <a:t>vehicle_breakdown, accident, congestion, pot_holes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870448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8B949E"/>
                </a:solidFill>
                <a:latin typeface="Arial"/>
              </a:rPr>
              <a:t>⚠ ‘Tendency’ = chance of road closure, NOT injury severity. An accident is ‘low’ because &lt;8% needed a full closure — a tree fall almost always blocks the road.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057400"/>
            <a:ext cx="530352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1945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8A6FF"/>
                </a:solidFill>
                <a:latin typeface="Arial"/>
              </a:rPr>
              <a:t>MANPOWER GRID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542032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B949E"/>
                </a:solidFill>
                <a:latin typeface="Arial"/>
              </a:rPr>
              <a:t>officers = closure-risk tier × cause tendency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492240" y="3017520"/>
          <a:ext cx="48463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05840"/>
                <a:gridCol w="1005840"/>
                <a:gridCol w="100584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8A6FF"/>
                          </a:solidFill>
                          <a:latin typeface="Arial"/>
                        </a:rPr>
                        <a:t>Risk \ Cause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8A6FF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8A6FF"/>
                          </a:solidFill>
                          <a:latin typeface="Arial"/>
                        </a:rPr>
                        <a:t>Med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8A6FF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anchor="ctr">
                    <a:solidFill>
                      <a:srgbClr val="161B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6EDF3"/>
                          </a:solidFill>
                          <a:latin typeface="Arial"/>
                        </a:rPr>
                        <a:t>High (≥0.40)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FB950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FB95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FB95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6EDF3"/>
                          </a:solidFill>
                          <a:latin typeface="Arial"/>
                        </a:rPr>
                        <a:t>Med (0.20–0.40)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FB95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FB95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FB95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E6EDF3"/>
                          </a:solidFill>
                          <a:latin typeface="Arial"/>
                        </a:rPr>
                        <a:t>Low (&lt;0.20)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FB95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FB95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FB95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492240" y="5074920"/>
            <a:ext cx="4846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58A6FF"/>
                </a:solidFill>
                <a:latin typeface="Arial"/>
              </a:rPr>
              <a:t>Examples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E6EDF3"/>
                </a:solidFill>
                <a:latin typeface="Arial"/>
              </a:rPr>
              <a:t>tree_fall @ 83% → High × High → </a:t>
            </a:r>
            <a:r>
              <a:rPr sz="1200" b="1">
                <a:solidFill>
                  <a:srgbClr val="3FB950"/>
                </a:solidFill>
                <a:latin typeface="Arial"/>
              </a:rPr>
              <a:t>8 officers + barricade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E6EDF3"/>
                </a:solidFill>
                <a:latin typeface="Arial"/>
              </a:rPr>
              <a:t>accident @ 16% → Low × Low → </a:t>
            </a:r>
            <a:r>
              <a:rPr sz="1200" b="1">
                <a:solidFill>
                  <a:srgbClr val="E6EDF3"/>
                </a:solidFill>
                <a:latin typeface="Arial"/>
              </a:rPr>
              <a:t>2 officers, no barricade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355080"/>
            <a:ext cx="1092708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6373368"/>
            <a:ext cx="10698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B949E"/>
                </a:solidFill>
                <a:latin typeface="Arial"/>
              </a:rPr>
              <a:t>No ‘optimal’ claims — every threshold is a documented policy choice BTP can tune, and the closure model is backtested (flagged events closed 4.2× more often).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664" y="287079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dirty="0">
                <a:solidFill>
                  <a:srgbClr val="58A6FF"/>
                </a:solidFill>
                <a:latin typeface="Arial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dirty="0">
                <a:solidFill>
                  <a:srgbClr val="E6EDF3"/>
                </a:solidFill>
                <a:latin typeface="Arial"/>
              </a:rPr>
              <a:t>The dashboard </a:t>
            </a:r>
            <a:r>
              <a:rPr lang="en-US" sz="2000" b="1" dirty="0">
                <a:solidFill>
                  <a:srgbClr val="E6EDF3"/>
                </a:solidFill>
                <a:latin typeface="Arial"/>
              </a:rPr>
              <a:t> - </a:t>
            </a:r>
            <a:r>
              <a:rPr sz="2000" b="1" dirty="0">
                <a:solidFill>
                  <a:srgbClr val="E6EDF3"/>
                </a:solidFill>
                <a:latin typeface="Arial"/>
              </a:rPr>
              <a:t>report an event, get a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10515600" cy="402336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6EDF3"/>
                </a:solidFill>
                <a:latin typeface="Arial"/>
              </a:rPr>
              <a:t>Report an event → closure risk % + officer/barricade recommendation + city hotspot map, in real time.</a:t>
            </a:r>
          </a:p>
        </p:txBody>
      </p:sp>
      <p:pic>
        <p:nvPicPr>
          <p:cNvPr id="8" name="Picture 7" descr="dashboard-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568" y="1188721"/>
            <a:ext cx="10589472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3463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4106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dirty="0">
                <a:solidFill>
                  <a:srgbClr val="58A6FF"/>
                </a:solidFill>
                <a:latin typeface="Arial"/>
              </a:rPr>
              <a:t>WHY YOU CAN TRUST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19278"/>
            <a:ext cx="109728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dirty="0">
                <a:solidFill>
                  <a:srgbClr val="E6EDF3"/>
                </a:solidFill>
                <a:latin typeface="Arial"/>
              </a:rPr>
              <a:t>our 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512064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993392"/>
            <a:ext cx="4663440" cy="1257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dirty="0">
                <a:solidFill>
                  <a:srgbClr val="E6EDF3"/>
                </a:solidFill>
                <a:latin typeface="Arial"/>
              </a:rPr>
              <a:t>🎯  </a:t>
            </a:r>
            <a:r>
              <a:rPr sz="1600" b="1" dirty="0">
                <a:solidFill>
                  <a:srgbClr val="58A6FF"/>
                </a:solidFill>
                <a:latin typeface="Arial"/>
              </a:rPr>
              <a:t>Real held-out metrics</a:t>
            </a:r>
          </a:p>
          <a:p>
            <a:pPr algn="l">
              <a:lnSpc>
                <a:spcPct val="105000"/>
              </a:lnSpc>
            </a:pPr>
            <a:endParaRPr sz="1600" b="1" dirty="0">
              <a:solidFill>
                <a:srgbClr val="58A6FF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sz="1300" b="0" dirty="0">
                <a:solidFill>
                  <a:srgbClr val="E6EDF3"/>
                </a:solidFill>
                <a:latin typeface="Arial"/>
              </a:rPr>
              <a:t>Every score is on 25% of data the model never saw. We report PR-AUC &amp; recall </a:t>
            </a:r>
            <a:r>
              <a:rPr lang="en-US" sz="1300" b="0" dirty="0">
                <a:solidFill>
                  <a:srgbClr val="E6EDF3"/>
                </a:solidFill>
                <a:latin typeface="Arial"/>
              </a:rPr>
              <a:t>- </a:t>
            </a:r>
            <a:r>
              <a:rPr sz="1300" b="0" dirty="0">
                <a:solidFill>
                  <a:srgbClr val="E6EDF3"/>
                </a:solidFill>
                <a:latin typeface="Arial"/>
              </a:rPr>
              <a:t>right for rare events</a:t>
            </a:r>
            <a:r>
              <a:rPr lang="en-US" sz="1300" dirty="0">
                <a:solidFill>
                  <a:srgbClr val="E6EDF3"/>
                </a:solidFill>
                <a:latin typeface="Arial"/>
              </a:rPr>
              <a:t>, </a:t>
            </a:r>
            <a:r>
              <a:rPr sz="1300" b="0" dirty="0">
                <a:solidFill>
                  <a:srgbClr val="E6EDF3"/>
                </a:solidFill>
                <a:latin typeface="Arial"/>
              </a:rPr>
              <a:t>not flattering accuracy.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828800"/>
            <a:ext cx="512064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993392"/>
            <a:ext cx="46634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E6EDF3"/>
                </a:solidFill>
                <a:latin typeface="Arial"/>
              </a:rPr>
              <a:t>🐛  </a:t>
            </a:r>
            <a:r>
              <a:rPr sz="1600" b="1">
                <a:solidFill>
                  <a:srgbClr val="58A6FF"/>
                </a:solidFill>
                <a:latin typeface="Arial"/>
              </a:rPr>
              <a:t>We caught &amp; fixed a leakage bug</a:t>
            </a:r>
          </a:p>
          <a:p>
            <a:pPr algn="l">
              <a:lnSpc>
                <a:spcPct val="105000"/>
              </a:lnSpc>
            </a:pPr>
            <a:endParaRPr sz="1600" b="1">
              <a:solidFill>
                <a:srgbClr val="58A6FF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sz="1300" b="0">
                <a:solidFill>
                  <a:srgbClr val="E6EDF3"/>
                </a:solidFill>
                <a:latin typeface="Arial"/>
              </a:rPr>
              <a:t>A timestamp-parsing glitch was secretly inflating our score (116 events). We found it, fixed it at the source, and report the honest post-fix number.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584448"/>
            <a:ext cx="512064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3712463"/>
            <a:ext cx="4663440" cy="1257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dirty="0">
                <a:solidFill>
                  <a:srgbClr val="E6EDF3"/>
                </a:solidFill>
                <a:latin typeface="Arial"/>
              </a:rPr>
              <a:t>📋  </a:t>
            </a:r>
            <a:r>
              <a:rPr sz="1600" b="1" dirty="0">
                <a:solidFill>
                  <a:srgbClr val="58A6FF"/>
                </a:solidFill>
                <a:latin typeface="Arial"/>
              </a:rPr>
              <a:t>Recommendations are </a:t>
            </a:r>
            <a:r>
              <a:rPr sz="1600" b="1" dirty="0" err="1">
                <a:solidFill>
                  <a:srgbClr val="58A6FF"/>
                </a:solidFill>
                <a:latin typeface="Arial"/>
              </a:rPr>
              <a:t>backteste</a:t>
            </a:r>
            <a:r>
              <a:rPr lang="en-US" sz="1600" b="1" dirty="0" err="1">
                <a:solidFill>
                  <a:srgbClr val="58A6FF"/>
                </a:solidFill>
                <a:latin typeface="Arial"/>
              </a:rPr>
              <a:t>d</a:t>
            </a:r>
            <a:r>
              <a:rPr sz="1600" b="1" dirty="0">
                <a:solidFill>
                  <a:srgbClr val="58A6FF"/>
                </a:solidFill>
                <a:latin typeface="Arial"/>
              </a:rPr>
              <a:t>, not “optimal”</a:t>
            </a:r>
          </a:p>
          <a:p>
            <a:pPr algn="l">
              <a:lnSpc>
                <a:spcPct val="105000"/>
              </a:lnSpc>
            </a:pPr>
            <a:r>
              <a:rPr sz="1300" b="0" dirty="0">
                <a:solidFill>
                  <a:srgbClr val="E6EDF3"/>
                </a:solidFill>
                <a:latin typeface="Arial"/>
              </a:rPr>
              <a:t>No deployment ground truth exists in the data, so we never claim optimal. We verified vs history: flagged events closed 4.2× more often.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584448"/>
            <a:ext cx="512064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3712463"/>
            <a:ext cx="4663440" cy="1257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dirty="0">
                <a:solidFill>
                  <a:srgbClr val="E6EDF3"/>
                </a:solidFill>
                <a:latin typeface="Arial"/>
              </a:rPr>
              <a:t>🔁  Validated two ways</a:t>
            </a:r>
          </a:p>
          <a:p>
            <a:pPr algn="l">
              <a:lnSpc>
                <a:spcPct val="105000"/>
              </a:lnSpc>
            </a:pPr>
            <a:endParaRPr sz="1600" b="1" dirty="0">
              <a:solidFill>
                <a:srgbClr val="58A6FF"/>
              </a:solidFill>
              <a:latin typeface="Arial"/>
            </a:endParaRPr>
          </a:p>
          <a:p>
            <a:pPr algn="l">
              <a:lnSpc>
                <a:spcPct val="105000"/>
              </a:lnSpc>
            </a:pPr>
            <a:r>
              <a:rPr sz="1300" b="0" dirty="0">
                <a:solidFill>
                  <a:srgbClr val="E6EDF3"/>
                </a:solidFill>
                <a:latin typeface="Arial"/>
              </a:rPr>
              <a:t>Random split AND a strict time-based split (train past → test future). PR-AUC held: 0.44 → 0.46. No temporal leakage.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58A6FF"/>
                </a:solidFill>
                <a:latin typeface="Arial"/>
              </a:rPr>
              <a:t>“We'd rather present a true 0.44 than a fake 0.99.”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285232"/>
            <a:ext cx="105156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5389060"/>
            <a:ext cx="10058400" cy="7341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400" b="0" dirty="0">
                <a:solidFill>
                  <a:srgbClr val="E6EDF3"/>
                </a:solidFill>
                <a:latin typeface="Arial"/>
              </a:rPr>
              <a:t>⚖️  </a:t>
            </a:r>
            <a:r>
              <a:rPr sz="1400" b="1" dirty="0">
                <a:solidFill>
                  <a:srgbClr val="58A6FF"/>
                </a:solidFill>
                <a:latin typeface="Arial"/>
              </a:rPr>
              <a:t>We tune for recall on purpose, and we own the cost</a:t>
            </a:r>
          </a:p>
          <a:p>
            <a:pPr>
              <a:lnSpc>
                <a:spcPct val="105000"/>
              </a:lnSpc>
              <a:spcBef>
                <a:spcPts val="200"/>
              </a:spcBef>
            </a:pPr>
            <a:r>
              <a:rPr sz="1250" b="0" dirty="0">
                <a:solidFill>
                  <a:srgbClr val="8B949E"/>
                </a:solidFill>
                <a:latin typeface="Arial"/>
              </a:rPr>
              <a:t>At our 0.40 threshold precision is ~0.20 </a:t>
            </a:r>
            <a:r>
              <a:rPr lang="en-US" sz="1250" b="0" dirty="0">
                <a:solidFill>
                  <a:srgbClr val="8B949E"/>
                </a:solidFill>
                <a:latin typeface="Arial"/>
              </a:rPr>
              <a:t>- </a:t>
            </a:r>
            <a:r>
              <a:rPr sz="1250" b="0" dirty="0">
                <a:solidFill>
                  <a:srgbClr val="8B949E"/>
                </a:solidFill>
                <a:latin typeface="Arial"/>
              </a:rPr>
              <a:t>more false alarms </a:t>
            </a:r>
            <a:r>
              <a:rPr lang="en-US" sz="1250" b="0" dirty="0">
                <a:solidFill>
                  <a:srgbClr val="8B949E"/>
                </a:solidFill>
                <a:latin typeface="Arial"/>
              </a:rPr>
              <a:t>- </a:t>
            </a:r>
            <a:r>
              <a:rPr sz="1250" b="0" dirty="0">
                <a:solidFill>
                  <a:srgbClr val="8B949E"/>
                </a:solidFill>
                <a:latin typeface="Arial"/>
              </a:rPr>
              <a:t>but a missed road closure costs police far more than </a:t>
            </a:r>
            <a:r>
              <a:rPr sz="1250" b="0" dirty="0">
                <a:solidFill>
                  <a:srgbClr val="E6EDF3"/>
                </a:solidFill>
                <a:latin typeface="Arial"/>
              </a:rPr>
              <a:t>a wasted check. The threshold is a dial BTP can set.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8A6FF"/>
                </a:solidFill>
                <a:latin typeface="Arial"/>
              </a:rPr>
              <a:t>IMPACT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dirty="0">
                <a:solidFill>
                  <a:srgbClr val="E6EDF3"/>
                </a:solidFill>
                <a:latin typeface="Arial"/>
              </a:rPr>
              <a:t>What it means for BTP and what's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512064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2057400"/>
            <a:ext cx="4663440" cy="224067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dirty="0">
                <a:solidFill>
                  <a:srgbClr val="3FB950"/>
                </a:solidFill>
                <a:latin typeface="Arial"/>
              </a:rPr>
              <a:t>IMPACT TODAY</a:t>
            </a:r>
          </a:p>
          <a:p>
            <a:pPr algn="l">
              <a:lnSpc>
                <a:spcPct val="110000"/>
              </a:lnSpc>
            </a:pPr>
            <a:endParaRPr sz="1500" b="1" dirty="0">
              <a:solidFill>
                <a:srgbClr val="3FB950"/>
              </a:solidFill>
              <a:latin typeface="Arial"/>
            </a:endParaRPr>
          </a:p>
          <a:p>
            <a:pPr algn="l">
              <a:lnSpc>
                <a:spcPct val="110000"/>
              </a:lnSpc>
            </a:pPr>
            <a:r>
              <a:rPr sz="1400" b="0" dirty="0">
                <a:solidFill>
                  <a:srgbClr val="E6EDF3"/>
                </a:solidFill>
                <a:latin typeface="Arial"/>
              </a:rPr>
              <a:t>• Proactive: pre-position patrols at predicted hotspots before incidents happen.</a:t>
            </a:r>
          </a:p>
          <a:p>
            <a:pPr algn="l">
              <a:lnSpc>
                <a:spcPct val="110000"/>
              </a:lnSpc>
            </a:pPr>
            <a:endParaRPr sz="1400" b="0" dirty="0">
              <a:solidFill>
                <a:srgbClr val="E6EDF3"/>
              </a:solidFill>
              <a:latin typeface="Arial"/>
            </a:endParaRPr>
          </a:p>
          <a:p>
            <a:pPr algn="l">
              <a:lnSpc>
                <a:spcPct val="110000"/>
              </a:lnSpc>
            </a:pPr>
            <a:r>
              <a:rPr sz="1400" b="0" dirty="0">
                <a:solidFill>
                  <a:srgbClr val="E6EDF3"/>
                </a:solidFill>
                <a:latin typeface="Arial"/>
              </a:rPr>
              <a:t>• Reactive: instant closure risk + response the moment an event is reported.</a:t>
            </a:r>
          </a:p>
          <a:p>
            <a:pPr algn="l">
              <a:lnSpc>
                <a:spcPct val="110000"/>
              </a:lnSpc>
            </a:pPr>
            <a:endParaRPr sz="1400" b="0" dirty="0">
              <a:solidFill>
                <a:srgbClr val="E6EDF3"/>
              </a:solidFill>
              <a:latin typeface="Arial"/>
            </a:endParaRPr>
          </a:p>
          <a:p>
            <a:pPr algn="l">
              <a:lnSpc>
                <a:spcPct val="110000"/>
              </a:lnSpc>
            </a:pPr>
            <a:r>
              <a:rPr sz="1400" b="0" dirty="0">
                <a:solidFill>
                  <a:srgbClr val="E6EDF3"/>
                </a:solidFill>
                <a:latin typeface="Arial"/>
              </a:rPr>
              <a:t>• Explainable </a:t>
            </a:r>
            <a:r>
              <a:rPr lang="en-US" sz="1400" b="0" dirty="0">
                <a:solidFill>
                  <a:srgbClr val="E6EDF3"/>
                </a:solidFill>
                <a:latin typeface="Arial"/>
              </a:rPr>
              <a:t>-</a:t>
            </a:r>
            <a:r>
              <a:rPr sz="1400" b="0" dirty="0">
                <a:solidFill>
                  <a:srgbClr val="E6EDF3"/>
                </a:solidFill>
                <a:latin typeface="Arial"/>
              </a:rPr>
              <a:t> officers can see why, so they trust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828800"/>
            <a:ext cx="512064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2057400"/>
            <a:ext cx="466344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dirty="0">
                <a:solidFill>
                  <a:srgbClr val="D29922"/>
                </a:solidFill>
                <a:latin typeface="Arial"/>
              </a:rPr>
              <a:t>ROADMAP  (not yet built)</a:t>
            </a:r>
          </a:p>
          <a:p>
            <a:pPr algn="l">
              <a:lnSpc>
                <a:spcPct val="110000"/>
              </a:lnSpc>
            </a:pPr>
            <a:endParaRPr sz="1500" b="1" dirty="0">
              <a:solidFill>
                <a:srgbClr val="D29922"/>
              </a:solidFill>
              <a:latin typeface="Arial"/>
            </a:endParaRPr>
          </a:p>
          <a:p>
            <a:pPr algn="l">
              <a:lnSpc>
                <a:spcPct val="110000"/>
              </a:lnSpc>
            </a:pPr>
            <a:r>
              <a:rPr sz="1400" b="0" dirty="0">
                <a:solidFill>
                  <a:srgbClr val="E6EDF3"/>
                </a:solidFill>
                <a:latin typeface="Arial"/>
              </a:rPr>
              <a:t>• Live </a:t>
            </a:r>
            <a:r>
              <a:rPr sz="1400" b="0" dirty="0" err="1">
                <a:solidFill>
                  <a:srgbClr val="E6EDF3"/>
                </a:solidFill>
                <a:latin typeface="Arial"/>
              </a:rPr>
              <a:t>ASTraM</a:t>
            </a:r>
            <a:r>
              <a:rPr sz="1400" b="0" dirty="0">
                <a:solidFill>
                  <a:srgbClr val="E6EDF3"/>
                </a:solidFill>
                <a:latin typeface="Arial"/>
              </a:rPr>
              <a:t> feed integration</a:t>
            </a:r>
          </a:p>
          <a:p>
            <a:pPr algn="l">
              <a:lnSpc>
                <a:spcPct val="110000"/>
              </a:lnSpc>
            </a:pPr>
            <a:endParaRPr sz="1400" b="0" dirty="0">
              <a:solidFill>
                <a:srgbClr val="E6EDF3"/>
              </a:solidFill>
              <a:latin typeface="Arial"/>
            </a:endParaRPr>
          </a:p>
          <a:p>
            <a:pPr algn="l">
              <a:lnSpc>
                <a:spcPct val="110000"/>
              </a:lnSpc>
            </a:pPr>
            <a:r>
              <a:rPr sz="1400" b="0" dirty="0">
                <a:solidFill>
                  <a:srgbClr val="E6EDF3"/>
                </a:solidFill>
                <a:latin typeface="Arial"/>
              </a:rPr>
              <a:t>• </a:t>
            </a:r>
            <a:r>
              <a:rPr sz="1400" b="0" dirty="0" err="1">
                <a:solidFill>
                  <a:srgbClr val="E6EDF3"/>
                </a:solidFill>
                <a:latin typeface="Arial"/>
              </a:rPr>
              <a:t>MapmyIndia</a:t>
            </a:r>
            <a:r>
              <a:rPr sz="1400" b="0" dirty="0">
                <a:solidFill>
                  <a:srgbClr val="E6EDF3"/>
                </a:solidFill>
                <a:latin typeface="Arial"/>
              </a:rPr>
              <a:t> for map, traffic &amp; diversion routing</a:t>
            </a:r>
          </a:p>
          <a:p>
            <a:pPr algn="l">
              <a:lnSpc>
                <a:spcPct val="110000"/>
              </a:lnSpc>
            </a:pPr>
            <a:endParaRPr sz="1400" b="0" dirty="0">
              <a:solidFill>
                <a:srgbClr val="E6EDF3"/>
              </a:solidFill>
              <a:latin typeface="Arial"/>
            </a:endParaRPr>
          </a:p>
          <a:p>
            <a:pPr algn="l">
              <a:lnSpc>
                <a:spcPct val="110000"/>
              </a:lnSpc>
            </a:pPr>
            <a:r>
              <a:rPr sz="1400" b="0" dirty="0">
                <a:solidFill>
                  <a:srgbClr val="E6EDF3"/>
                </a:solidFill>
                <a:latin typeface="Arial"/>
              </a:rPr>
              <a:t>• "Blast radius" impact-zone visualization</a:t>
            </a:r>
          </a:p>
          <a:p>
            <a:pPr algn="l">
              <a:lnSpc>
                <a:spcPct val="110000"/>
              </a:lnSpc>
            </a:pPr>
            <a:endParaRPr sz="1400" b="0" dirty="0">
              <a:solidFill>
                <a:srgbClr val="E6EDF3"/>
              </a:solidFill>
              <a:latin typeface="Arial"/>
            </a:endParaRPr>
          </a:p>
          <a:p>
            <a:pPr algn="l">
              <a:lnSpc>
                <a:spcPct val="110000"/>
              </a:lnSpc>
            </a:pPr>
            <a:r>
              <a:rPr sz="1400" b="0" dirty="0">
                <a:solidFill>
                  <a:srgbClr val="E6EDF3"/>
                </a:solidFill>
                <a:latin typeface="Arial"/>
              </a:rPr>
              <a:t>• Learning loop from real deployment outcomes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B949E"/>
                </a:solidFill>
                <a:latin typeface="Arial"/>
              </a:rPr>
              <a:t>Honest about what's live today vs. what comes next.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148840"/>
            <a:ext cx="121916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E6EDF3"/>
                </a:solidFill>
                <a:latin typeface="Arial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4724247" y="3703320"/>
            <a:ext cx="2743200" cy="4114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3977639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58A6FF"/>
                </a:solidFill>
                <a:latin typeface="Arial"/>
              </a:rPr>
              <a:t>Event Congestion Command Center</a:t>
            </a:r>
          </a:p>
          <a:p>
            <a:pPr algn="ctr">
              <a:spcBef>
                <a:spcPts val="800"/>
              </a:spcBef>
            </a:pPr>
            <a:r>
              <a:rPr sz="1500">
                <a:solidFill>
                  <a:srgbClr val="8B949E"/>
                </a:solidFill>
                <a:latin typeface="Arial"/>
              </a:rPr>
              <a:t>Honest models, real ASTraM data, a demo that runs live.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943600"/>
            <a:ext cx="12191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8B949E"/>
                </a:solidFill>
                <a:latin typeface="Arial"/>
              </a:rPr>
              <a:t>Flipkart Gridlock 2.0  ×  Bengaluru Traffic Police  · 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1657</Words>
  <Application>Microsoft Macintosh PowerPoint</Application>
  <PresentationFormat>Widescreen</PresentationFormat>
  <Paragraphs>170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Agharia, Sujaatali</cp:lastModifiedBy>
  <cp:revision>10</cp:revision>
  <dcterms:created xsi:type="dcterms:W3CDTF">2013-01-27T09:14:16Z</dcterms:created>
  <dcterms:modified xsi:type="dcterms:W3CDTF">2026-06-21T11:29:43Z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2026-06-21T06:28:35Z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41efa0e2-8d5b-49b7-af2d-a70099568385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